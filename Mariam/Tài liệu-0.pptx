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4A44A"/>
          </a:solidFill>
          <a:ln>
            <a:solidFill>
              <a:srgbClr val="D4A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731520"/>
            <a:ext cx="1188720" cy="1188720"/>
          </a:xfrm>
          <a:prstGeom prst="ellipse">
            <a:avLst/>
          </a:prstGeom>
          <a:solidFill>
            <a:srgbClr val="D4A44A"/>
          </a:solidFill>
          <a:ln>
            <a:solidFill>
              <a:srgbClr val="D4A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1554480"/>
            <a:ext cx="502920" cy="502920"/>
          </a:xfrm>
          <a:prstGeom prst="ellipse">
            <a:avLst/>
          </a:prstGeom>
          <a:solidFill>
            <a:srgbClr val="EED6A5"/>
          </a:solidFill>
          <a:ln>
            <a:solidFill>
              <a:srgbClr val="EED6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235440" y="1920240"/>
            <a:ext cx="292608" cy="292608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57607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800" b="1" i="0">
                <a:solidFill>
                  <a:srgbClr val="EED6A5"/>
                </a:solidFill>
                <a:latin typeface="Arial"/>
              </a:rPr>
              <a:t>المتحف المصري الكبير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828800"/>
            <a:ext cx="8138160" cy="9601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السؤال الذي لا ينام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834640"/>
            <a:ext cx="603504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2300" b="1" i="0">
                <a:solidFill>
                  <a:srgbClr val="D4A44A"/>
                </a:solidFill>
                <a:latin typeface="Arial"/>
              </a:rPr>
              <a:t>المشكلة — فصل مريم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3566160"/>
            <a:ext cx="2834640" cy="54864"/>
          </a:xfrm>
          <a:prstGeom prst="rect">
            <a:avLst/>
          </a:prstGeom>
          <a:solidFill>
            <a:srgbClr val="D4A44A"/>
          </a:solidFill>
          <a:ln>
            <a:solidFill>
              <a:srgbClr val="D4A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3886200"/>
            <a:ext cx="8229600" cy="7315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من الفخر بالحضارة… إلى إدراك مسؤولية الحفاظ على حكايتها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172200"/>
            <a:ext cx="438912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D6A5"/>
                </a:solidFill>
                <a:latin typeface="Arial"/>
              </a:rPr>
              <a:t>Storyboard &amp; Visual Direction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44A"/>
          </a:solidFill>
          <a:ln>
            <a:solidFill>
              <a:srgbClr val="D4A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931920" cy="2560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D4A44A"/>
                </a:solidFill>
                <a:latin typeface="Arial"/>
              </a:rPr>
              <a:t>01 | الفكرة الأساسية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2600" b="1" i="0">
                <a:solidFill>
                  <a:srgbClr val="17324D"/>
                </a:solidFill>
                <a:latin typeface="Arial"/>
              </a:rPr>
              <a:t>فكرة الجزء ودوره في الفيلم</a:t>
            </a:r>
          </a:p>
        </p:txBody>
      </p:sp>
      <p:sp>
        <p:nvSpPr>
          <p:cNvPr id="5" name="Rectangle 4"/>
          <p:cNvSpPr/>
          <p:nvPr/>
        </p:nvSpPr>
        <p:spPr>
          <a:xfrm>
            <a:off x="9966960" y="1234440"/>
            <a:ext cx="1600200" cy="45720"/>
          </a:xfrm>
          <a:prstGeom prst="rect">
            <a:avLst/>
          </a:prstGeom>
          <a:solidFill>
            <a:srgbClr val="D4A44A"/>
          </a:solidFill>
          <a:ln>
            <a:solidFill>
              <a:srgbClr val="D4A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548640" cy="228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626C75"/>
                </a:solidFill>
                <a:latin typeface="Ari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332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2100" b="1" i="0">
                <a:solidFill>
                  <a:srgbClr val="17324D"/>
                </a:solidFill>
                <a:latin typeface="Arial"/>
              </a:rPr>
              <a:t>آدم مرشد سياحي في المتحف المصري بالتحرير. يبدأ يومه وهو يحكي بفخر عن عظمة المصريين القدماء، لكن موقفًا بسيطًا يغيّر طريقة تفكيره ويجعله يواجه سؤالًا أكبر.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06324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96511" y="3200400"/>
            <a:ext cx="64008" cy="1737360"/>
          </a:xfrm>
          <a:prstGeom prst="rect">
            <a:avLst/>
          </a:prstGeom>
          <a:solidFill>
            <a:srgbClr val="D4A44A"/>
          </a:solidFill>
          <a:ln>
            <a:solidFill>
              <a:srgbClr val="D4A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172968"/>
            <a:ext cx="3017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900" b="1" i="0">
                <a:solidFill>
                  <a:srgbClr val="17324D"/>
                </a:solidFill>
                <a:latin typeface="Arial"/>
              </a:rPr>
              <a:t>البداية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630168"/>
            <a:ext cx="3017520" cy="1325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600" b="0" i="0">
                <a:solidFill>
                  <a:srgbClr val="626C75"/>
                </a:solidFill>
                <a:latin typeface="Arial"/>
              </a:rPr>
              <a:t>الفخر بالحضارة وإعجاب الزوار بالآثار.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06324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08392" y="3200400"/>
            <a:ext cx="64008" cy="1737360"/>
          </a:xfrm>
          <a:prstGeom prst="rect">
            <a:avLst/>
          </a:prstGeom>
          <a:solidFill>
            <a:srgbClr val="7E5739"/>
          </a:solidFill>
          <a:ln>
            <a:solidFill>
              <a:srgbClr val="7E5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3172968"/>
            <a:ext cx="3017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900" b="1" i="0">
                <a:solidFill>
                  <a:srgbClr val="17324D"/>
                </a:solidFill>
                <a:latin typeface="Arial"/>
              </a:rPr>
              <a:t>نقطة التحوّل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630168"/>
            <a:ext cx="3017520" cy="1325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600" b="0" i="0">
                <a:solidFill>
                  <a:srgbClr val="626C75"/>
                </a:solidFill>
                <a:latin typeface="Arial"/>
              </a:rPr>
              <a:t>سؤال الطفل: «هنفضل نعرف عنهم أكتر إزاي؟»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306324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320272" y="3200400"/>
            <a:ext cx="64008" cy="1737360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3172968"/>
            <a:ext cx="3017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900" b="1" i="0">
                <a:solidFill>
                  <a:srgbClr val="17324D"/>
                </a:solidFill>
                <a:latin typeface="Arial"/>
              </a:rPr>
              <a:t>النتيجة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3630168"/>
            <a:ext cx="3017520" cy="1325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600" b="0" i="0">
                <a:solidFill>
                  <a:srgbClr val="626C75"/>
                </a:solidFill>
                <a:latin typeface="Arial"/>
              </a:rPr>
              <a:t>إدراك أن وجود الأثر وحده لا يكفي؛ يجب أن تصل قيمته وحكايته للأجيال.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532120"/>
            <a:ext cx="102412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700" b="1" i="0">
                <a:solidFill>
                  <a:srgbClr val="7E5739"/>
                </a:solidFill>
                <a:latin typeface="Arial"/>
              </a:rPr>
              <a:t>وظيفة فصل مريم: توضيح المشكلة وبناء الدافع للحل، دون كشف الحل الذي يقدّمه فصل محمد.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55664"/>
            <a:ext cx="5120640" cy="2011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26C75"/>
                </a:solidFill>
                <a:latin typeface="Arial"/>
              </a:rPr>
              <a:t>المتحف المصري الكبير | فصل مريم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44A"/>
          </a:solidFill>
          <a:ln>
            <a:solidFill>
              <a:srgbClr val="D4A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931920" cy="2560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D4A44A"/>
                </a:solidFill>
                <a:latin typeface="Arial"/>
              </a:rPr>
              <a:t>02 | دليل بصري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2600" b="1" i="0">
                <a:solidFill>
                  <a:srgbClr val="17324D"/>
                </a:solidFill>
                <a:latin typeface="Arial"/>
              </a:rPr>
              <a:t>الهوية البصرية المعتمدة</a:t>
            </a:r>
          </a:p>
        </p:txBody>
      </p:sp>
      <p:sp>
        <p:nvSpPr>
          <p:cNvPr id="5" name="Rectangle 4"/>
          <p:cNvSpPr/>
          <p:nvPr/>
        </p:nvSpPr>
        <p:spPr>
          <a:xfrm>
            <a:off x="9966960" y="1234440"/>
            <a:ext cx="1600200" cy="45720"/>
          </a:xfrm>
          <a:prstGeom prst="rect">
            <a:avLst/>
          </a:prstGeom>
          <a:solidFill>
            <a:srgbClr val="D4A44A"/>
          </a:solidFill>
          <a:ln>
            <a:solidFill>
              <a:srgbClr val="D4A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548640" cy="228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626C75"/>
                </a:solidFill>
                <a:latin typeface="Arial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508760"/>
            <a:ext cx="32004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800" b="1" i="0">
                <a:solidFill>
                  <a:srgbClr val="17324D"/>
                </a:solidFill>
                <a:latin typeface="Arial"/>
              </a:rPr>
              <a:t>الأسلوب الفني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874519"/>
            <a:ext cx="438912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500" b="0" i="0">
                <a:solidFill>
                  <a:srgbClr val="626C75"/>
                </a:solidFill>
                <a:latin typeface="Arial"/>
              </a:rPr>
              <a:t>2D Cartoon Illustration</a:t>
            </a:r>
          </a:p>
          <a:p>
            <a:pPr algn="r">
              <a:spcAft>
                <a:spcPts val="500"/>
              </a:spcAft>
            </a:pPr>
            <a:r>
              <a:rPr sz="1500" b="0" i="0">
                <a:solidFill>
                  <a:srgbClr val="626C75"/>
                </a:solidFill>
                <a:latin typeface="Arial"/>
              </a:rPr>
              <a:t>رسوم ثنائية الأبعاد بخطوط نظيفة وتفاصيل مبسطة، بطابع تعليمي سينمائي.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508760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800" b="1" i="0">
                <a:solidFill>
                  <a:srgbClr val="17324D"/>
                </a:solidFill>
                <a:latin typeface="Arial"/>
              </a:rPr>
              <a:t>لوحة الألوان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965960"/>
            <a:ext cx="1005840" cy="685800"/>
          </a:xfrm>
          <a:prstGeom prst="roundRect">
            <a:avLst/>
          </a:prstGeom>
          <a:solidFill>
            <a:srgbClr val="D4A44A"/>
          </a:solidFill>
          <a:ln>
            <a:solidFill>
              <a:srgbClr val="DCD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724912"/>
            <a:ext cx="105156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17324D"/>
                </a:solidFill>
                <a:latin typeface="Arial"/>
              </a:rPr>
              <a:t>ذهبي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035808"/>
            <a:ext cx="1051560" cy="228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0" i="0">
                <a:solidFill>
                  <a:srgbClr val="626C75"/>
                </a:solidFill>
                <a:latin typeface="Arial"/>
              </a:rPr>
              <a:t>#D4A44A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1965960"/>
            <a:ext cx="1005840" cy="685800"/>
          </a:xfrm>
          <a:prstGeom prst="roundRect">
            <a:avLst/>
          </a:prstGeom>
          <a:solidFill>
            <a:srgbClr val="EED6A5"/>
          </a:solidFill>
          <a:ln>
            <a:solidFill>
              <a:srgbClr val="DCD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13432" y="2724912"/>
            <a:ext cx="105156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17324D"/>
                </a:solidFill>
                <a:latin typeface="Arial"/>
              </a:rPr>
              <a:t>رملي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13432" y="3035808"/>
            <a:ext cx="1051560" cy="228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0" i="0">
                <a:solidFill>
                  <a:srgbClr val="626C75"/>
                </a:solidFill>
                <a:latin typeface="Arial"/>
              </a:rPr>
              <a:t>#EED6A5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1965960"/>
            <a:ext cx="1005840" cy="685800"/>
          </a:xfrm>
          <a:prstGeom prst="roundRect">
            <a:avLst/>
          </a:prstGeom>
          <a:solidFill>
            <a:srgbClr val="17324D"/>
          </a:solidFill>
          <a:ln>
            <a:solidFill>
              <a:srgbClr val="DCD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2724912"/>
            <a:ext cx="105156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17324D"/>
                </a:solidFill>
                <a:latin typeface="Arial"/>
              </a:rPr>
              <a:t>كحلي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3035808"/>
            <a:ext cx="1051560" cy="228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0" i="0">
                <a:solidFill>
                  <a:srgbClr val="626C75"/>
                </a:solidFill>
                <a:latin typeface="Arial"/>
              </a:rPr>
              <a:t>#17324D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0600" y="1965960"/>
            <a:ext cx="1005840" cy="685800"/>
          </a:xfrm>
          <a:prstGeom prst="roundRect">
            <a:avLst/>
          </a:prstGeom>
          <a:solidFill>
            <a:srgbClr val="FAF7EF"/>
          </a:solidFill>
          <a:ln>
            <a:solidFill>
              <a:srgbClr val="DCD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82312" y="2724912"/>
            <a:ext cx="105156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17324D"/>
                </a:solidFill>
                <a:latin typeface="Arial"/>
              </a:rPr>
              <a:t>أوف وايت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82312" y="3035808"/>
            <a:ext cx="1051560" cy="228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0" i="0">
                <a:solidFill>
                  <a:srgbClr val="626C75"/>
                </a:solidFill>
                <a:latin typeface="Arial"/>
              </a:rPr>
              <a:t>#FAF7EF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7033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42232" y="3840480"/>
            <a:ext cx="64008" cy="1234439"/>
          </a:xfrm>
          <a:prstGeom prst="rect">
            <a:avLst/>
          </a:prstGeom>
          <a:solidFill>
            <a:srgbClr val="D4A44A"/>
          </a:solidFill>
          <a:ln>
            <a:solidFill>
              <a:srgbClr val="D4A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3813048"/>
            <a:ext cx="3017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700" b="1" i="0">
                <a:solidFill>
                  <a:srgbClr val="17324D"/>
                </a:solidFill>
                <a:latin typeface="Arial"/>
              </a:rPr>
              <a:t>آدم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4270248"/>
            <a:ext cx="3017520" cy="82295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626C75"/>
                </a:solidFill>
                <a:latin typeface="Arial"/>
              </a:rPr>
              <a:t>مرشد سياحي شاب، ملامح مصرية، شعر أسود قصير، قميص فاتح وصديري كحلي وبطاقة تعريف.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7033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08392" y="3840480"/>
            <a:ext cx="64008" cy="1234439"/>
          </a:xfrm>
          <a:prstGeom prst="rect">
            <a:avLst/>
          </a:prstGeom>
          <a:solidFill>
            <a:srgbClr val="7E5739"/>
          </a:solidFill>
          <a:ln>
            <a:solidFill>
              <a:srgbClr val="7E5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3712" y="3813048"/>
            <a:ext cx="3017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700" b="1" i="0">
                <a:solidFill>
                  <a:srgbClr val="17324D"/>
                </a:solidFill>
                <a:latin typeface="Arial"/>
              </a:rPr>
              <a:t>الإضاءة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4270248"/>
            <a:ext cx="3017520" cy="82295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626C75"/>
                </a:solidFill>
                <a:latin typeface="Arial"/>
              </a:rPr>
              <a:t>ذهبية دافئة داخل القاعات، تتحول تدريجيًا إلى إضاءة أكثر هدوءًا عند ظهور السؤال.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55279" y="37033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274552" y="3840480"/>
            <a:ext cx="64008" cy="1234439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19871" y="3813048"/>
            <a:ext cx="3017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700" b="1" i="0">
                <a:solidFill>
                  <a:srgbClr val="17324D"/>
                </a:solidFill>
                <a:latin typeface="Arial"/>
              </a:rPr>
              <a:t>الاستمرارية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1" y="4270248"/>
            <a:ext cx="3017520" cy="82295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626C75"/>
                </a:solidFill>
                <a:latin typeface="Arial"/>
              </a:rPr>
              <a:t>تثبيت شكل آدم وملابسه وملامح المتحف في كل المشاهد واللقطات.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669280"/>
            <a:ext cx="102412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 i="1">
                <a:solidFill>
                  <a:srgbClr val="626C75"/>
                </a:solidFill>
                <a:latin typeface="Arial"/>
              </a:rPr>
              <a:t>ملاحظة: الأحداث الحوارية تمثيل درامي مقترح، وليست توثيقًا لوقائع حدثت بالفعل.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6455664"/>
            <a:ext cx="5120640" cy="2011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26C75"/>
                </a:solidFill>
                <a:latin typeface="Arial"/>
              </a:rPr>
              <a:t>المتحف المصري الكبير | فصل مريم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44A"/>
          </a:solidFill>
          <a:ln>
            <a:solidFill>
              <a:srgbClr val="D4A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931920" cy="2560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D4A44A"/>
                </a:solidFill>
                <a:latin typeface="Arial"/>
              </a:rPr>
              <a:t>03 | من الفخر إلى السؤال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2600" b="1" i="0">
                <a:solidFill>
                  <a:srgbClr val="17324D"/>
                </a:solidFill>
                <a:latin typeface="Arial"/>
              </a:rPr>
              <a:t>المسار الدرامي للفصل</a:t>
            </a:r>
          </a:p>
        </p:txBody>
      </p:sp>
      <p:sp>
        <p:nvSpPr>
          <p:cNvPr id="5" name="Rectangle 4"/>
          <p:cNvSpPr/>
          <p:nvPr/>
        </p:nvSpPr>
        <p:spPr>
          <a:xfrm>
            <a:off x="9966960" y="1234440"/>
            <a:ext cx="1600200" cy="45720"/>
          </a:xfrm>
          <a:prstGeom prst="rect">
            <a:avLst/>
          </a:prstGeom>
          <a:solidFill>
            <a:srgbClr val="D4A44A"/>
          </a:solidFill>
          <a:ln>
            <a:solidFill>
              <a:srgbClr val="D4A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548640" cy="228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626C75"/>
                </a:solidFill>
                <a:latin typeface="Arial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20574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4168" y="1600200"/>
            <a:ext cx="731520" cy="731520"/>
          </a:xfrm>
          <a:prstGeom prst="ellipse">
            <a:avLst/>
          </a:prstGeom>
          <a:solidFill>
            <a:srgbClr val="D4A44A"/>
          </a:solidFill>
          <a:ln>
            <a:solidFill>
              <a:srgbClr val="D4A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4168" y="1673352"/>
            <a:ext cx="7315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514600"/>
            <a:ext cx="182880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17324D"/>
                </a:solidFill>
                <a:latin typeface="Arial"/>
              </a:rPr>
              <a:t>الفخر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017520"/>
            <a:ext cx="1737360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 i="0">
                <a:solidFill>
                  <a:srgbClr val="626C75"/>
                </a:solidFill>
                <a:latin typeface="Arial"/>
              </a:rPr>
              <a:t>آدم يشرح عظمة الحضارة للسياح.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2697480"/>
            <a:ext cx="27432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 i="0">
                <a:solidFill>
                  <a:srgbClr val="D4A44A"/>
                </a:solidFill>
                <a:latin typeface="Arial"/>
              </a:rPr>
              <a:t>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90088" y="1965960"/>
            <a:ext cx="20574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8456" y="1600200"/>
            <a:ext cx="731520" cy="731520"/>
          </a:xfrm>
          <a:prstGeom prst="ellipse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48456" y="1673352"/>
            <a:ext cx="7315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9816" y="2514600"/>
            <a:ext cx="182880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17324D"/>
                </a:solidFill>
                <a:latin typeface="Arial"/>
              </a:rPr>
              <a:t>التساؤل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017520"/>
            <a:ext cx="1737360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 i="0">
                <a:solidFill>
                  <a:srgbClr val="626C75"/>
                </a:solidFill>
                <a:latin typeface="Arial"/>
              </a:rPr>
              <a:t>سؤال السائح يجعل إجابته تبدو غير مكتملة.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697480"/>
            <a:ext cx="27432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 i="0">
                <a:solidFill>
                  <a:srgbClr val="D4A44A"/>
                </a:solidFill>
                <a:latin typeface="Arial"/>
              </a:rPr>
              <a:t>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94376" y="1965960"/>
            <a:ext cx="20574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52744" y="1600200"/>
            <a:ext cx="731520" cy="731520"/>
          </a:xfrm>
          <a:prstGeom prst="ellipse">
            <a:avLst/>
          </a:prstGeom>
          <a:solidFill>
            <a:srgbClr val="D4A44A"/>
          </a:solidFill>
          <a:ln>
            <a:solidFill>
              <a:srgbClr val="D4A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52744" y="1673352"/>
            <a:ext cx="7315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4104" y="2514600"/>
            <a:ext cx="182880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17324D"/>
                </a:solidFill>
                <a:latin typeface="Arial"/>
              </a:rPr>
              <a:t>نقطة التحوّل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58968" y="3017520"/>
            <a:ext cx="1737360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 i="0">
                <a:solidFill>
                  <a:srgbClr val="626C75"/>
                </a:solidFill>
                <a:latin typeface="Arial"/>
              </a:rPr>
              <a:t>الطفل يسأل: كيف سنواصل التعلّم عنهم؟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3488" y="2697480"/>
            <a:ext cx="27432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 i="0">
                <a:solidFill>
                  <a:srgbClr val="D4A44A"/>
                </a:solidFill>
                <a:latin typeface="Arial"/>
              </a:rPr>
              <a:t>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98664" y="1965960"/>
            <a:ext cx="20574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57032" y="1600200"/>
            <a:ext cx="731520" cy="731520"/>
          </a:xfrm>
          <a:prstGeom prst="ellipse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2" y="1673352"/>
            <a:ext cx="7315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08392" y="2514600"/>
            <a:ext cx="182880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17324D"/>
                </a:solidFill>
                <a:latin typeface="Arial"/>
              </a:rPr>
              <a:t>إدراك المشكلة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63256" y="3017520"/>
            <a:ext cx="1737360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 i="0">
                <a:solidFill>
                  <a:srgbClr val="626C75"/>
                </a:solidFill>
                <a:latin typeface="Arial"/>
              </a:rPr>
              <a:t>الحفاظ على الأثر لا يكفي دون إيصال قصته.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7776" y="2697480"/>
            <a:ext cx="27432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 i="0">
                <a:solidFill>
                  <a:srgbClr val="D4A44A"/>
                </a:solidFill>
                <a:latin typeface="Arial"/>
              </a:rPr>
              <a:t>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02952" y="1965960"/>
            <a:ext cx="20574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561320" y="1600200"/>
            <a:ext cx="731520" cy="731520"/>
          </a:xfrm>
          <a:prstGeom prst="ellipse">
            <a:avLst/>
          </a:prstGeom>
          <a:solidFill>
            <a:srgbClr val="D4A44A"/>
          </a:solidFill>
          <a:ln>
            <a:solidFill>
              <a:srgbClr val="D4A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61320" y="1673352"/>
            <a:ext cx="7315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2514600"/>
            <a:ext cx="182880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17324D"/>
                </a:solidFill>
                <a:latin typeface="Arial"/>
              </a:rPr>
              <a:t>تمهيد للحل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67544" y="3017520"/>
            <a:ext cx="1737360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 i="0">
                <a:solidFill>
                  <a:srgbClr val="626C75"/>
                </a:solidFill>
                <a:latin typeface="Arial"/>
              </a:rPr>
              <a:t>آدم يدرك أن السؤال يحتاج إلى خطوة حقيقية.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892040"/>
            <a:ext cx="10241280" cy="777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800" b="1" i="0">
                <a:solidFill>
                  <a:srgbClr val="7E5739"/>
                </a:solidFill>
                <a:latin typeface="Arial"/>
              </a:rPr>
              <a:t>نقطة التحوّل الأساسية هي سؤال الطفل، لأنه يحوّل المشكلة من فكرة داخل آدم إلى مسؤولية يشعر بها تجاه الأجيال القادمة.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6455664"/>
            <a:ext cx="5120640" cy="2011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26C75"/>
                </a:solidFill>
                <a:latin typeface="Arial"/>
              </a:rPr>
              <a:t>المتحف المصري الكبير | فصل مريم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44A"/>
          </a:solidFill>
          <a:ln>
            <a:solidFill>
              <a:srgbClr val="D4A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931920" cy="2560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D4A44A"/>
                </a:solidFill>
                <a:latin typeface="Arial"/>
              </a:rPr>
              <a:t>04 | بداية الحكاية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2600" b="1" i="0">
                <a:solidFill>
                  <a:srgbClr val="17324D"/>
                </a:solidFill>
                <a:latin typeface="Arial"/>
              </a:rPr>
              <a:t>Storyboard | المشهدان الأول والثاني</a:t>
            </a:r>
          </a:p>
        </p:txBody>
      </p:sp>
      <p:sp>
        <p:nvSpPr>
          <p:cNvPr id="5" name="Rectangle 4"/>
          <p:cNvSpPr/>
          <p:nvPr/>
        </p:nvSpPr>
        <p:spPr>
          <a:xfrm>
            <a:off x="9966960" y="1234440"/>
            <a:ext cx="1600200" cy="45720"/>
          </a:xfrm>
          <a:prstGeom prst="rect">
            <a:avLst/>
          </a:prstGeom>
          <a:solidFill>
            <a:srgbClr val="D4A44A"/>
          </a:solidFill>
          <a:ln>
            <a:solidFill>
              <a:srgbClr val="D4A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548640" cy="228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626C75"/>
                </a:solidFill>
                <a:latin typeface="Arial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578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79592" y="1691639"/>
            <a:ext cx="64008" cy="3200400"/>
          </a:xfrm>
          <a:prstGeom prst="rect">
            <a:avLst/>
          </a:prstGeom>
          <a:solidFill>
            <a:srgbClr val="D4A44A"/>
          </a:solidFill>
          <a:ln>
            <a:solidFill>
              <a:srgbClr val="D4A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64207"/>
            <a:ext cx="48463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800" b="1" i="0">
                <a:solidFill>
                  <a:srgbClr val="17324D"/>
                </a:solidFill>
                <a:latin typeface="Arial"/>
              </a:rPr>
              <a:t>المشهد 1 — بداية الحكاية | 00:00–00:35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121408"/>
            <a:ext cx="4846320" cy="2788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500" b="0" i="0">
                <a:solidFill>
                  <a:srgbClr val="626C75"/>
                </a:solidFill>
                <a:latin typeface="Arial"/>
              </a:rPr>
              <a:t>لقطة واسعة للمتحف، ثم ظهور آدم وهو يشرح للسياح.</a:t>
            </a:r>
          </a:p>
          <a:p>
            <a:pPr algn="r">
              <a:spcAft>
                <a:spcPts val="500"/>
              </a:spcAft>
            </a:pPr>
          </a:p>
          <a:p>
            <a:pPr algn="r">
              <a:spcAft>
                <a:spcPts val="500"/>
              </a:spcAft>
            </a:pPr>
            <a:r>
              <a:rPr sz="1500" b="0" i="0">
                <a:solidFill>
                  <a:srgbClr val="626C75"/>
                </a:solidFill>
                <a:latin typeface="Arial"/>
              </a:rPr>
              <a:t>الكاميرا: حركة بطيئة داخل القاعة، ثم لقطات قريبة للتماثيل والنقوش.</a:t>
            </a:r>
          </a:p>
          <a:p>
            <a:pPr algn="r">
              <a:spcAft>
                <a:spcPts val="500"/>
              </a:spcAft>
            </a:pPr>
          </a:p>
          <a:p>
            <a:pPr algn="r">
              <a:spcAft>
                <a:spcPts val="500"/>
              </a:spcAft>
            </a:pPr>
            <a:r>
              <a:rPr sz="1500" b="0" i="0">
                <a:solidFill>
                  <a:srgbClr val="626C75"/>
                </a:solidFill>
                <a:latin typeface="Arial"/>
              </a:rPr>
              <a:t>الصوت: موسيقى مهيبة هادئة وأصوات زوار.</a:t>
            </a:r>
          </a:p>
          <a:p>
            <a:pPr algn="r">
              <a:spcAft>
                <a:spcPts val="500"/>
              </a:spcAft>
            </a:pPr>
          </a:p>
          <a:p>
            <a:pPr algn="r">
              <a:spcAft>
                <a:spcPts val="500"/>
              </a:spcAft>
            </a:pPr>
            <a:r>
              <a:rPr sz="1500" b="0" i="0">
                <a:solidFill>
                  <a:srgbClr val="626C75"/>
                </a:solidFill>
                <a:latin typeface="Arial"/>
              </a:rPr>
              <a:t>الجملة المحورية: «كل قطعة هنا وراها حكاية».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2578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365992" y="1691639"/>
            <a:ext cx="64008" cy="3200400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664207"/>
            <a:ext cx="48463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800" b="1" i="0">
                <a:solidFill>
                  <a:srgbClr val="17324D"/>
                </a:solidFill>
                <a:latin typeface="Arial"/>
              </a:rPr>
              <a:t>المشهد 2 — بداية السؤال | 00:35–01:05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121408"/>
            <a:ext cx="4846320" cy="2788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500" b="0" i="0">
                <a:solidFill>
                  <a:srgbClr val="626C75"/>
                </a:solidFill>
                <a:latin typeface="Arial"/>
              </a:rPr>
              <a:t>سائح يسأل آدم عن سر بقاء الحضارة عبر آلاف السنين.</a:t>
            </a:r>
          </a:p>
          <a:p>
            <a:pPr algn="r">
              <a:spcAft>
                <a:spcPts val="500"/>
              </a:spcAft>
            </a:pPr>
          </a:p>
          <a:p>
            <a:pPr algn="r">
              <a:spcAft>
                <a:spcPts val="500"/>
              </a:spcAft>
            </a:pPr>
            <a:r>
              <a:rPr sz="1500" b="0" i="0">
                <a:solidFill>
                  <a:srgbClr val="626C75"/>
                </a:solidFill>
                <a:latin typeface="Arial"/>
              </a:rPr>
              <a:t>الكاميرا: لقطة تجمع الاثنين، ثم لقطة قريبة لوجه آدم بعد الإجابة.</a:t>
            </a:r>
          </a:p>
          <a:p>
            <a:pPr algn="r">
              <a:spcAft>
                <a:spcPts val="500"/>
              </a:spcAft>
            </a:pPr>
          </a:p>
          <a:p>
            <a:pPr algn="r">
              <a:spcAft>
                <a:spcPts val="500"/>
              </a:spcAft>
            </a:pPr>
            <a:r>
              <a:rPr sz="1500" b="0" i="0">
                <a:solidFill>
                  <a:srgbClr val="626C75"/>
                </a:solidFill>
                <a:latin typeface="Arial"/>
              </a:rPr>
              <a:t>الصوت: تخفت ضوضاء القاعة وتبدأ موسيقى تأملية.</a:t>
            </a:r>
          </a:p>
          <a:p>
            <a:pPr algn="r">
              <a:spcAft>
                <a:spcPts val="500"/>
              </a:spcAft>
            </a:pPr>
          </a:p>
          <a:p>
            <a:pPr algn="r">
              <a:spcAft>
                <a:spcPts val="500"/>
              </a:spcAft>
            </a:pPr>
            <a:r>
              <a:rPr sz="1500" b="0" i="0">
                <a:solidFill>
                  <a:srgbClr val="626C75"/>
                </a:solidFill>
                <a:latin typeface="Arial"/>
              </a:rPr>
              <a:t>الجملة المحورية: «حسيت إن إجابتي مش كاملة».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1014984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700" b="1" i="0">
                <a:solidFill>
                  <a:srgbClr val="7E5739"/>
                </a:solidFill>
                <a:latin typeface="Arial"/>
              </a:rPr>
              <a:t>هدف المشهدين: تأسيس الفخر، ثم إدخال أول شكّ يدفع آدم إلى التفكير.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55664"/>
            <a:ext cx="5120640" cy="2011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26C75"/>
                </a:solidFill>
                <a:latin typeface="Arial"/>
              </a:rPr>
              <a:t>المتحف المصري الكبير | فصل مريم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4A44A"/>
          </a:solidFill>
          <a:ln>
            <a:solidFill>
              <a:srgbClr val="D4A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594360"/>
            <a:ext cx="42976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500" b="1" i="0">
                <a:solidFill>
                  <a:srgbClr val="EED6A5"/>
                </a:solidFill>
                <a:latin typeface="Arial"/>
              </a:rPr>
              <a:t>المشهد المحوري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005840"/>
            <a:ext cx="5486400" cy="7315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3200" b="1" i="0">
                <a:solidFill>
                  <a:srgbClr val="FFFFFF"/>
                </a:solidFill>
                <a:latin typeface="Arial"/>
              </a:rPr>
              <a:t>سؤال الطفل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965960"/>
            <a:ext cx="9326880" cy="777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2700" b="1" i="0">
                <a:solidFill>
                  <a:srgbClr val="D4A44A"/>
                </a:solidFill>
                <a:latin typeface="Arial"/>
              </a:rPr>
              <a:t>«طب هنفضل نعرف عنهم أكتر إزاي؟»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2926080"/>
            <a:ext cx="3200400" cy="54864"/>
          </a:xfrm>
          <a:prstGeom prst="rect">
            <a:avLst/>
          </a:prstGeom>
          <a:solidFill>
            <a:srgbClr val="D4A44A"/>
          </a:solidFill>
          <a:ln>
            <a:solidFill>
              <a:srgbClr val="D4A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3246120"/>
            <a:ext cx="47548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900" b="1" i="0">
                <a:solidFill>
                  <a:srgbClr val="EED6A5"/>
                </a:solidFill>
                <a:latin typeface="Arial"/>
              </a:rPr>
              <a:t>ليه اللحظة دي مهمة؟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3749039"/>
            <a:ext cx="7223760" cy="1554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700" b="0" i="0">
                <a:solidFill>
                  <a:srgbClr val="FFFFFF"/>
                </a:solidFill>
                <a:latin typeface="Arial"/>
              </a:rPr>
              <a:t>• آدم لا يملك إجابة فورية.</a:t>
            </a:r>
          </a:p>
          <a:p>
            <a:pPr algn="r">
              <a:spcAft>
                <a:spcPts val="500"/>
              </a:spcAft>
            </a:pPr>
            <a:r>
              <a:rPr sz="1700" b="0" i="0">
                <a:solidFill>
                  <a:srgbClr val="FFFFFF"/>
                </a:solidFill>
                <a:latin typeface="Arial"/>
              </a:rPr>
              <a:t>• السؤال بسيط وقريب من الجمهور.</a:t>
            </a:r>
          </a:p>
          <a:p>
            <a:pPr algn="r">
              <a:spcAft>
                <a:spcPts val="500"/>
              </a:spcAft>
            </a:pPr>
            <a:r>
              <a:rPr sz="1700" b="0" i="0">
                <a:solidFill>
                  <a:srgbClr val="FFFFFF"/>
                </a:solidFill>
                <a:latin typeface="Arial"/>
              </a:rPr>
              <a:t>• يربط الماضي بمسؤولية الحاضر.</a:t>
            </a:r>
          </a:p>
          <a:p>
            <a:pPr algn="r">
              <a:spcAft>
                <a:spcPts val="500"/>
              </a:spcAft>
            </a:pPr>
            <a:r>
              <a:rPr sz="1700" b="0" i="0">
                <a:solidFill>
                  <a:srgbClr val="FFFFFF"/>
                </a:solidFill>
                <a:latin typeface="Arial"/>
              </a:rPr>
              <a:t>• يحوّل الموضوع من شرح تاريخي إلى مشكلة إنسانية.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89320"/>
            <a:ext cx="102412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EED6A5"/>
                </a:solidFill>
                <a:latin typeface="Arial"/>
              </a:rPr>
              <a:t>الأداء: صمت قصير، نظرة إلى الطفل، ثم نظرة إلى الأثر. لا نبالغ في الموسيقى أو التعبير.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55664"/>
            <a:ext cx="5120640" cy="2011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26C75"/>
                </a:solidFill>
                <a:latin typeface="Arial"/>
              </a:rPr>
              <a:t>السؤال الذي لا ينام | نقطة التحوّل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44A"/>
          </a:solidFill>
          <a:ln>
            <a:solidFill>
              <a:srgbClr val="D4A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931920" cy="2560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D4A44A"/>
                </a:solidFill>
                <a:latin typeface="Arial"/>
              </a:rPr>
              <a:t>05 | جوهر الفصل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2600" b="1" i="0">
                <a:solidFill>
                  <a:srgbClr val="17324D"/>
                </a:solidFill>
                <a:latin typeface="Arial"/>
              </a:rPr>
              <a:t>ما المشكلة التي نريد أن يشعر بها الجمهور؟</a:t>
            </a:r>
          </a:p>
        </p:txBody>
      </p:sp>
      <p:sp>
        <p:nvSpPr>
          <p:cNvPr id="5" name="Rectangle 4"/>
          <p:cNvSpPr/>
          <p:nvPr/>
        </p:nvSpPr>
        <p:spPr>
          <a:xfrm>
            <a:off x="9966960" y="1234440"/>
            <a:ext cx="1600200" cy="45720"/>
          </a:xfrm>
          <a:prstGeom prst="rect">
            <a:avLst/>
          </a:prstGeom>
          <a:solidFill>
            <a:srgbClr val="D4A44A"/>
          </a:solidFill>
          <a:ln>
            <a:solidFill>
              <a:srgbClr val="D4A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548640" cy="228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626C75"/>
                </a:solidFill>
                <a:latin typeface="Arial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24128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2700" b="1" i="0">
                <a:solidFill>
                  <a:srgbClr val="17324D"/>
                </a:solidFill>
                <a:latin typeface="Arial"/>
              </a:rPr>
              <a:t>وجود الأثر وحده لا يضمن أن حكايته وصلت.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0604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96511" y="2743200"/>
            <a:ext cx="64008" cy="1737360"/>
          </a:xfrm>
          <a:prstGeom prst="rect">
            <a:avLst/>
          </a:prstGeom>
          <a:solidFill>
            <a:srgbClr val="D4A44A"/>
          </a:solidFill>
          <a:ln>
            <a:solidFill>
              <a:srgbClr val="D4A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715768"/>
            <a:ext cx="3017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900" b="1" i="0">
                <a:solidFill>
                  <a:srgbClr val="17324D"/>
                </a:solidFill>
                <a:latin typeface="Arial"/>
              </a:rPr>
              <a:t>الحفاظ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172968"/>
            <a:ext cx="3017520" cy="1325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600" b="0" i="0">
                <a:solidFill>
                  <a:srgbClr val="626C75"/>
                </a:solidFill>
                <a:latin typeface="Arial"/>
              </a:rPr>
              <a:t>كيف نصون تراثًا وصل إلينا عبر آلاف السنين؟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60604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08392" y="2743200"/>
            <a:ext cx="64008" cy="1737360"/>
          </a:xfrm>
          <a:prstGeom prst="rect">
            <a:avLst/>
          </a:prstGeom>
          <a:solidFill>
            <a:srgbClr val="7E5739"/>
          </a:solidFill>
          <a:ln>
            <a:solidFill>
              <a:srgbClr val="7E5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715768"/>
            <a:ext cx="3017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900" b="1" i="0">
                <a:solidFill>
                  <a:srgbClr val="17324D"/>
                </a:solidFill>
                <a:latin typeface="Arial"/>
              </a:rPr>
              <a:t>الفهم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172968"/>
            <a:ext cx="3017520" cy="1325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600" b="0" i="0">
                <a:solidFill>
                  <a:srgbClr val="626C75"/>
                </a:solidFill>
                <a:latin typeface="Arial"/>
              </a:rPr>
              <a:t>كيف نجعل الناس يفهمون قيمة القطع وقصصها؟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60604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320272" y="2743200"/>
            <a:ext cx="64008" cy="1737360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2715768"/>
            <a:ext cx="3017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900" b="1" i="0">
                <a:solidFill>
                  <a:srgbClr val="17324D"/>
                </a:solidFill>
                <a:latin typeface="Arial"/>
              </a:rPr>
              <a:t>الاستمرار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3172968"/>
            <a:ext cx="3017520" cy="1325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600" b="0" i="0">
                <a:solidFill>
                  <a:srgbClr val="626C75"/>
                </a:solidFill>
                <a:latin typeface="Arial"/>
              </a:rPr>
              <a:t>كيف تصل الحكاية إلى الأطفال والأجيال القادمة؟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700" b="1" i="0">
                <a:solidFill>
                  <a:srgbClr val="7E5739"/>
                </a:solidFill>
                <a:latin typeface="Arial"/>
              </a:rPr>
              <a:t>هذه أسئلة درامية تقود إلى الحاجة لحل؛ أما فكرة الحل نفسها فتُترك للفصل التالي.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55664"/>
            <a:ext cx="5120640" cy="2011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26C75"/>
                </a:solidFill>
                <a:latin typeface="Arial"/>
              </a:rPr>
              <a:t>المتحف المصري الكبير | فصل مريم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44A"/>
          </a:solidFill>
          <a:ln>
            <a:solidFill>
              <a:srgbClr val="D4A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931920" cy="2560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D4A44A"/>
                </a:solidFill>
                <a:latin typeface="Arial"/>
              </a:rPr>
              <a:t>06 | التمهيد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2600" b="1" i="0">
                <a:solidFill>
                  <a:srgbClr val="17324D"/>
                </a:solidFill>
                <a:latin typeface="Arial"/>
              </a:rPr>
              <a:t>نهاية فصل مريم والانتقال إلى محمد</a:t>
            </a:r>
          </a:p>
        </p:txBody>
      </p:sp>
      <p:sp>
        <p:nvSpPr>
          <p:cNvPr id="5" name="Rectangle 4"/>
          <p:cNvSpPr/>
          <p:nvPr/>
        </p:nvSpPr>
        <p:spPr>
          <a:xfrm>
            <a:off x="9966960" y="1234440"/>
            <a:ext cx="1600200" cy="45720"/>
          </a:xfrm>
          <a:prstGeom prst="rect">
            <a:avLst/>
          </a:prstGeom>
          <a:solidFill>
            <a:srgbClr val="D4A44A"/>
          </a:solidFill>
          <a:ln>
            <a:solidFill>
              <a:srgbClr val="D4A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548640" cy="228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626C75"/>
                </a:solidFill>
                <a:latin typeface="Arial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00200"/>
            <a:ext cx="9966960" cy="11887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500" b="1" i="0">
                <a:solidFill>
                  <a:srgbClr val="17324D"/>
                </a:solidFill>
                <a:latin typeface="Arial"/>
              </a:rPr>
              <a:t>«السؤال الحقيقي مش بس: إحنا هنسيب إيه بعدنا؟</a:t>
            </a:r>
          </a:p>
          <a:p>
            <a:pPr algn="ctr">
              <a:spcAft>
                <a:spcPts val="500"/>
              </a:spcAft>
            </a:pPr>
            <a:r>
              <a:rPr sz="2500" b="1" i="0">
                <a:solidFill>
                  <a:srgbClr val="17324D"/>
                </a:solidFill>
                <a:latin typeface="Arial"/>
              </a:rPr>
              <a:t>السؤال كمان: هنعمل إيه باللي اتساب لنا؟»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3063240"/>
            <a:ext cx="3383280" cy="54864"/>
          </a:xfrm>
          <a:prstGeom prst="rect">
            <a:avLst/>
          </a:prstGeom>
          <a:solidFill>
            <a:srgbClr val="D4A44A"/>
          </a:solidFill>
          <a:ln>
            <a:solidFill>
              <a:srgbClr val="D4A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3429000"/>
            <a:ext cx="329184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800" b="1" i="0">
                <a:solidFill>
                  <a:srgbClr val="17324D"/>
                </a:solidFill>
                <a:latin typeface="Arial"/>
              </a:rPr>
              <a:t>الصورة الأخيرة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40480"/>
            <a:ext cx="9875520" cy="7315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600" b="0" i="0">
                <a:solidFill>
                  <a:srgbClr val="626C75"/>
                </a:solidFill>
                <a:latin typeface="Arial"/>
              </a:rPr>
              <a:t>آدم يلتفت إلى الآثار، ثم لقطة واسعة للمتحف في ضوء الغروب. تخفت الموسيقى، وتظهر عبارة تمهّد للفصل التالي.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4892040"/>
            <a:ext cx="7955279" cy="777240"/>
          </a:xfrm>
          <a:prstGeom prst="round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5001768"/>
            <a:ext cx="75895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«هل يمكن أن نجد مكانًا يليق بكل هذه الحكايات؟»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897880"/>
            <a:ext cx="859536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7E5739"/>
                </a:solidFill>
                <a:latin typeface="Arial"/>
              </a:rPr>
              <a:t>ثم يظهر عنوان الفصل التالي: «عودة الملوك — اكتشاف الحل»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55664"/>
            <a:ext cx="5120640" cy="2011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26C75"/>
                </a:solidFill>
                <a:latin typeface="Arial"/>
              </a:rPr>
              <a:t>المتحف المصري الكبير | فصل مريم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44A"/>
          </a:solidFill>
          <a:ln>
            <a:solidFill>
              <a:srgbClr val="D4A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931920" cy="2560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D4A44A"/>
                </a:solidFill>
                <a:latin typeface="Arial"/>
              </a:rPr>
              <a:t>07 | من السيناريو إلى الإنتاج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2600" b="1" i="0">
                <a:solidFill>
                  <a:srgbClr val="17324D"/>
                </a:solidFill>
                <a:latin typeface="Arial"/>
              </a:rPr>
              <a:t>خطة التنفيذ للجزء الخاص بي</a:t>
            </a:r>
          </a:p>
        </p:txBody>
      </p:sp>
      <p:sp>
        <p:nvSpPr>
          <p:cNvPr id="5" name="Rectangle 4"/>
          <p:cNvSpPr/>
          <p:nvPr/>
        </p:nvSpPr>
        <p:spPr>
          <a:xfrm>
            <a:off x="9966960" y="1234440"/>
            <a:ext cx="1600200" cy="45720"/>
          </a:xfrm>
          <a:prstGeom prst="rect">
            <a:avLst/>
          </a:prstGeom>
          <a:solidFill>
            <a:srgbClr val="D4A44A"/>
          </a:solidFill>
          <a:ln>
            <a:solidFill>
              <a:srgbClr val="D4A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548640" cy="228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626C75"/>
                </a:solidFill>
                <a:latin typeface="Arial"/>
              </a:rPr>
              <a:t>09</a:t>
            </a:r>
          </a:p>
        </p:txBody>
      </p:sp>
      <p:sp>
        <p:nvSpPr>
          <p:cNvPr id="7" name="Oval 6"/>
          <p:cNvSpPr/>
          <p:nvPr/>
        </p:nvSpPr>
        <p:spPr>
          <a:xfrm>
            <a:off x="10287000" y="1600200"/>
            <a:ext cx="475488" cy="475488"/>
          </a:xfrm>
          <a:prstGeom prst="ellipse">
            <a:avLst/>
          </a:prstGeom>
          <a:solidFill>
            <a:srgbClr val="D4A44A"/>
          </a:solidFill>
          <a:ln>
            <a:solidFill>
              <a:srgbClr val="D4A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0" y="1618488"/>
            <a:ext cx="475488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554480"/>
            <a:ext cx="297180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700" b="1" i="0">
                <a:solidFill>
                  <a:srgbClr val="17324D"/>
                </a:solidFill>
                <a:latin typeface="Arial"/>
              </a:rPr>
              <a:t>تثبيت الشخصية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89611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626C75"/>
                </a:solidFill>
                <a:latin typeface="Arial"/>
              </a:rPr>
              <a:t>مرجع بصري ثابت لآدم وملابسه وتعبيراته.</a:t>
            </a:r>
          </a:p>
        </p:txBody>
      </p:sp>
      <p:sp>
        <p:nvSpPr>
          <p:cNvPr id="11" name="Oval 10"/>
          <p:cNvSpPr/>
          <p:nvPr/>
        </p:nvSpPr>
        <p:spPr>
          <a:xfrm>
            <a:off x="10287000" y="2450591"/>
            <a:ext cx="475488" cy="475488"/>
          </a:xfrm>
          <a:prstGeom prst="ellipse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0" y="2468879"/>
            <a:ext cx="475488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404872"/>
            <a:ext cx="297180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700" b="1" i="0">
                <a:solidFill>
                  <a:srgbClr val="17324D"/>
                </a:solidFill>
                <a:latin typeface="Arial"/>
              </a:rPr>
              <a:t>اعتماد اللقطات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724912"/>
            <a:ext cx="89611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626C75"/>
                </a:solidFill>
                <a:latin typeface="Arial"/>
              </a:rPr>
              <a:t>مراجعة ترتيب المشاهد والحوار والمدة.</a:t>
            </a:r>
          </a:p>
        </p:txBody>
      </p:sp>
      <p:sp>
        <p:nvSpPr>
          <p:cNvPr id="15" name="Oval 14"/>
          <p:cNvSpPr/>
          <p:nvPr/>
        </p:nvSpPr>
        <p:spPr>
          <a:xfrm>
            <a:off x="10287000" y="3300984"/>
            <a:ext cx="475488" cy="475488"/>
          </a:xfrm>
          <a:prstGeom prst="ellipse">
            <a:avLst/>
          </a:prstGeom>
          <a:solidFill>
            <a:srgbClr val="D4A44A"/>
          </a:solidFill>
          <a:ln>
            <a:solidFill>
              <a:srgbClr val="D4A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0" y="3319272"/>
            <a:ext cx="475488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255264"/>
            <a:ext cx="297180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700" b="1" i="0">
                <a:solidFill>
                  <a:srgbClr val="17324D"/>
                </a:solidFill>
                <a:latin typeface="Arial"/>
              </a:rPr>
              <a:t>توليد الصور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575304"/>
            <a:ext cx="89611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626C75"/>
                </a:solidFill>
                <a:latin typeface="Arial"/>
              </a:rPr>
              <a:t>إنتاج صور كل لقطة بنفس الأسلوب والألوان.</a:t>
            </a:r>
          </a:p>
        </p:txBody>
      </p:sp>
      <p:sp>
        <p:nvSpPr>
          <p:cNvPr id="19" name="Oval 18"/>
          <p:cNvSpPr/>
          <p:nvPr/>
        </p:nvSpPr>
        <p:spPr>
          <a:xfrm>
            <a:off x="10287000" y="4151376"/>
            <a:ext cx="475488" cy="475488"/>
          </a:xfrm>
          <a:prstGeom prst="ellipse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0" y="4169664"/>
            <a:ext cx="475488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105656"/>
            <a:ext cx="297180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700" b="1" i="0">
                <a:solidFill>
                  <a:srgbClr val="17324D"/>
                </a:solidFill>
                <a:latin typeface="Arial"/>
              </a:rPr>
              <a:t>التحريك والمونتاج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25696"/>
            <a:ext cx="89611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626C75"/>
                </a:solidFill>
                <a:latin typeface="Arial"/>
              </a:rPr>
              <a:t>حركة كاميرا بسيطة، توقيت الحوار والموسيقى.</a:t>
            </a:r>
          </a:p>
        </p:txBody>
      </p:sp>
      <p:sp>
        <p:nvSpPr>
          <p:cNvPr id="23" name="Oval 22"/>
          <p:cNvSpPr/>
          <p:nvPr/>
        </p:nvSpPr>
        <p:spPr>
          <a:xfrm>
            <a:off x="10287000" y="5001768"/>
            <a:ext cx="475488" cy="475488"/>
          </a:xfrm>
          <a:prstGeom prst="ellipse">
            <a:avLst/>
          </a:prstGeom>
          <a:solidFill>
            <a:srgbClr val="D4A44A"/>
          </a:solidFill>
          <a:ln>
            <a:solidFill>
              <a:srgbClr val="D4A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87000" y="5020056"/>
            <a:ext cx="475488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956048"/>
            <a:ext cx="297180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700" b="1" i="0">
                <a:solidFill>
                  <a:srgbClr val="17324D"/>
                </a:solidFill>
                <a:latin typeface="Arial"/>
              </a:rPr>
              <a:t>المراجعة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276088"/>
            <a:ext cx="89611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626C75"/>
                </a:solidFill>
                <a:latin typeface="Arial"/>
              </a:rPr>
              <a:t>التأكد من استمرارية الشخصية ووضوح المشكلة.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989320"/>
            <a:ext cx="102412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500" b="1" i="0">
                <a:solidFill>
                  <a:srgbClr val="7E5739"/>
                </a:solidFill>
                <a:latin typeface="Arial"/>
              </a:rPr>
              <a:t>المخرج النهائي: فصل واضح دراميًا وبصريًا، ينتهي بطرح المشكلة ويفتح الباب لاكتشاف الحل.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55664"/>
            <a:ext cx="5120640" cy="2011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26C75"/>
                </a:solidFill>
                <a:latin typeface="Arial"/>
              </a:rPr>
              <a:t>المتحف المصري الكبير | فصل مريم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